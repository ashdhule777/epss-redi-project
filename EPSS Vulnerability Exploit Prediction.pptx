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Assistant SemiBold"/>
      <p:regular r:id="rId17"/>
      <p:bold r:id="rId18"/>
    </p:embeddedFont>
    <p:embeddedFont>
      <p:font typeface="Assistant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ssistantSemiBold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Assistant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Assistan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7bf99feee_2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a7bf99feee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7bf99feee_2_1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a7bf99feee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6" name="Google Shape;186;g3a7bf99feee_2_1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7bf99feee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7bf99feee_2_1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7bf99feee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a7bf99feee_2_1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7bf99feee_2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a7bf99feee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7bf99feee_2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a7bf99feee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7bf99feee_2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a7bf99feee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7bf99feee_2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a7bf99feee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9d0cf96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9d0cf96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7bf99feee_2_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a7bf99feee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ontact">
  <p:cSld name="MAIN_POINT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5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65" name="Google Shape;65;p15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5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68" name="Google Shape;68;p1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5" name="Google Shape;75;p16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76" name="Google Shape;76;p16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7" name="Google Shape;77;p16"/>
            <p:cNvPicPr preferRelativeResize="0"/>
            <p:nvPr/>
          </p:nvPicPr>
          <p:blipFill rotWithShape="1">
            <a:blip r:embed="rId2">
              <a:alphaModFix/>
            </a:blip>
            <a:srcRect b="0" l="377" r="386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16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4" name="Google Shape;84;p16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noFill/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noFill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20"/>
          <p:cNvSpPr txBox="1"/>
          <p:nvPr>
            <p:ph idx="2" type="body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0" name="Google Shape;120;p22"/>
          <p:cNvSpPr txBox="1"/>
          <p:nvPr>
            <p:ph idx="1" type="subTitle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4" name="Google Shape;124;p2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126" name="Google Shape;126;p2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22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128" name="Google Shape;128;p22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9" name="Google Shape;129;p22"/>
            <p:cNvPicPr preferRelativeResize="0"/>
            <p:nvPr/>
          </p:nvPicPr>
          <p:blipFill rotWithShape="1">
            <a:blip r:embed="rId2">
              <a:alphaModFix/>
            </a:blip>
            <a:srcRect b="0" l="377" r="386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1" name="Google Shape;141;p24"/>
          <p:cNvSpPr txBox="1"/>
          <p:nvPr>
            <p:ph idx="2" type="body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8" name="Google Shape;148;p25"/>
          <p:cNvSpPr txBox="1"/>
          <p:nvPr>
            <p:ph idx="3" type="body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hasCustomPrompt="1" type="title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1"/>
          <p:cNvSpPr txBox="1"/>
          <p:nvPr>
            <p:ph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1" name="Google Shape;171;p31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3" name="Google Shape;173;p31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b="1" i="0" sz="2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b="0" i="0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7157996" y="4762665"/>
            <a:ext cx="1308600" cy="2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56" name="Google Shape;56;p13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1">
              <a:alphaModFix/>
            </a:blip>
            <a:srcRect b="0" l="79" r="79" t="0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298494" y="1310282"/>
            <a:ext cx="8147075" cy="13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sz="3000">
                <a:solidFill>
                  <a:srgbClr val="FF9900"/>
                </a:solidFill>
              </a:rPr>
              <a:t>EPSS Vulnerability Exploit Prediction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4686621" y="3433077"/>
            <a:ext cx="4123509" cy="12299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Project By: Ashwini Dhule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Course: ReDI – Machine Learning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2" name="Google Shape;182;p33"/>
          <p:cNvSpPr/>
          <p:nvPr/>
        </p:nvSpPr>
        <p:spPr>
          <a:xfrm>
            <a:off x="183447" y="96027"/>
            <a:ext cx="8818552" cy="4891977"/>
          </a:xfrm>
          <a:prstGeom prst="rect">
            <a:avLst/>
          </a:prstGeom>
          <a:noFill/>
          <a:ln cap="flat" cmpd="sng" w="571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Title &amp; Introduction</a:t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07282" y="1362748"/>
            <a:ext cx="8520555" cy="32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Title: Predicting Vulnerability Exploitation using EPSS &amp; CVSS Data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Subtitle: Helping security analysts prioritize high-risk CVEs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Key points: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project predicts whether a software vulnerability (CVE) is likely to be exploited.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combines EPSS (Exploit Prediction Scoring System) and CVSS metrics.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assist penetration testers in prioritizing vulnerabilities.</a:t>
            </a:r>
            <a:endParaRPr/>
          </a:p>
        </p:txBody>
      </p:sp>
      <p:sp>
        <p:nvSpPr>
          <p:cNvPr id="190" name="Google Shape;190;p34"/>
          <p:cNvSpPr/>
          <p:nvPr/>
        </p:nvSpPr>
        <p:spPr>
          <a:xfrm>
            <a:off x="209654" y="104827"/>
            <a:ext cx="8726828" cy="4822031"/>
          </a:xfrm>
          <a:prstGeom prst="rect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Why I Chose This Project </a:t>
            </a:r>
            <a:endParaRPr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07255" y="1161852"/>
            <a:ext cx="8520487" cy="34663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/>
              <a:t>I work in security and penetration testing, so this topic is directly relevant.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/>
              <a:t>The dataset (from Kaggle) links CVEs with EPSS and CISA known-exploited flags.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/>
              <a:t>Real-world value: automating risk prioritization for vulnerability management.</a:t>
            </a:r>
            <a:endParaRPr/>
          </a:p>
        </p:txBody>
      </p:sp>
      <p:pic>
        <p:nvPicPr>
          <p:cNvPr id="197" name="Google Shape;197;p35" title="Screenshot 2025-11-21 at 2.10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75" y="401425"/>
            <a:ext cx="7609549" cy="46337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5"/>
          <p:cNvSpPr/>
          <p:nvPr/>
        </p:nvSpPr>
        <p:spPr>
          <a:xfrm>
            <a:off x="211150" y="94200"/>
            <a:ext cx="8769600" cy="5049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  Process &amp; Data 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02875" y="858300"/>
            <a:ext cx="85206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Steps followed: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Loaded dataset: cve_cisa_epss_enriched_dataset.csv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Selected key columns:</a:t>
            </a:r>
            <a:endParaRPr sz="14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          base_score, exploitability_score, impact_score, epss_score, epss_perc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Cleaned missing values, normalized cisa_kev (TRUE/FALSE → 1/0)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Split into training and testing sets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Trained a Random Forest Classifier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05" name="Google Shape;205;p3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975" y="2665575"/>
            <a:ext cx="6511025" cy="22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6"/>
          <p:cNvSpPr/>
          <p:nvPr/>
        </p:nvSpPr>
        <p:spPr>
          <a:xfrm>
            <a:off x="261675" y="209350"/>
            <a:ext cx="8739900" cy="48252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Modeling Technique</a:t>
            </a:r>
            <a:endParaRPr/>
          </a:p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580898" y="1231715"/>
            <a:ext cx="8238082" cy="33264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56"/>
              <a:t>Random Forest</a:t>
            </a:r>
            <a:endParaRPr sz="85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56"/>
          </a:p>
          <a:p>
            <a:pPr indent="-30839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7"/>
              <a:buChar char="•"/>
            </a:pPr>
            <a:r>
              <a:rPr lang="en" sz="1256"/>
              <a:t>Used Random Forest Classifier</a:t>
            </a:r>
            <a:br>
              <a:rPr lang="en" sz="1256"/>
            </a:br>
            <a:endParaRPr sz="1256"/>
          </a:p>
          <a:p>
            <a:pPr indent="-30839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7"/>
              <a:buChar char="•"/>
            </a:pPr>
            <a:r>
              <a:rPr lang="en" sz="1256"/>
              <a:t>Features used: base_score, exploitability_score, impact_score, epss_score, epss_perc</a:t>
            </a:r>
            <a:br>
              <a:rPr lang="en" sz="1256"/>
            </a:br>
            <a:endParaRPr sz="1256"/>
          </a:p>
          <a:p>
            <a:pPr indent="-30839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7"/>
              <a:buChar char="•"/>
            </a:pPr>
            <a:r>
              <a:rPr lang="en" sz="1256"/>
              <a:t>Train/Test split (80/20)</a:t>
            </a:r>
            <a:br>
              <a:rPr lang="en" sz="1256"/>
            </a:br>
            <a:endParaRPr sz="1256"/>
          </a:p>
          <a:p>
            <a:pPr indent="-30839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7"/>
              <a:buChar char="•"/>
            </a:pPr>
            <a:r>
              <a:rPr lang="en" sz="1256"/>
              <a:t>Due to imbalance, model predicts only class “0” (not exploited)</a:t>
            </a:r>
            <a:endParaRPr sz="1256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6"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6">
                <a:latin typeface="Assistant SemiBold"/>
                <a:ea typeface="Assistant SemiBold"/>
                <a:cs typeface="Assistant SemiBold"/>
                <a:sym typeface="Assistant SemiBold"/>
              </a:rPr>
              <a:t>This reflects real-world data imbalance, not an error</a:t>
            </a:r>
            <a:endParaRPr sz="1256"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pic>
        <p:nvPicPr>
          <p:cNvPr id="213" name="Google Shape;213;p37" title="Screenshot 2025-11-21 at 1.29.04 PM.png"/>
          <p:cNvPicPr preferRelativeResize="0"/>
          <p:nvPr/>
        </p:nvPicPr>
        <p:blipFill rotWithShape="1">
          <a:blip r:embed="rId3">
            <a:alphaModFix/>
          </a:blip>
          <a:srcRect b="0" l="1674" r="-4417" t="0"/>
          <a:stretch/>
        </p:blipFill>
        <p:spPr>
          <a:xfrm>
            <a:off x="1109500" y="3199925"/>
            <a:ext cx="4704026" cy="79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7"/>
          <p:cNvSpPr/>
          <p:nvPr/>
        </p:nvSpPr>
        <p:spPr>
          <a:xfrm>
            <a:off x="282600" y="261675"/>
            <a:ext cx="8719200" cy="44904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Results &amp; Insights</a:t>
            </a:r>
            <a:endParaRPr/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519652" y="1065739"/>
            <a:ext cx="8185250" cy="37386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65"/>
              <a:t>Model trained successfully (imbalanced dataset — mostly non-exploited CVEs)</a:t>
            </a:r>
            <a:endParaRPr b="1" sz="1365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365"/>
              <a:t>Main features influencing exploitation:</a:t>
            </a:r>
            <a:endParaRPr sz="1365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365"/>
              <a:t>    epss_score</a:t>
            </a:r>
            <a:endParaRPr sz="1365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365"/>
              <a:t>    exploitability_score</a:t>
            </a:r>
            <a:endParaRPr sz="1365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365"/>
              <a:t>    base_score</a:t>
            </a:r>
            <a:endParaRPr sz="1365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365"/>
              <a:t>Limited metrics (mostly one class), but still shows meaningful trends.</a:t>
            </a:r>
            <a:endParaRPr sz="1365"/>
          </a:p>
        </p:txBody>
      </p:sp>
      <p:sp>
        <p:nvSpPr>
          <p:cNvPr id="221" name="Google Shape;221;p38"/>
          <p:cNvSpPr txBox="1"/>
          <p:nvPr/>
        </p:nvSpPr>
        <p:spPr>
          <a:xfrm>
            <a:off x="6110100" y="47797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22" name="Google Shape;2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225" y="2571750"/>
            <a:ext cx="3045899" cy="18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125" y="2571750"/>
            <a:ext cx="2690025" cy="18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8075" y="2571750"/>
            <a:ext cx="2272849" cy="18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8"/>
          <p:cNvSpPr/>
          <p:nvPr/>
        </p:nvSpPr>
        <p:spPr>
          <a:xfrm>
            <a:off x="240750" y="261675"/>
            <a:ext cx="8739900" cy="45219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🚀 Challenges &amp; Future Improvements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659483" y="845672"/>
            <a:ext cx="8180908" cy="3923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Challenges: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Highly imbalanced dataset (few exploited CVEs)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Missing data in several columns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Some metrics can’t be computed due to single-class samples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Future Improvements: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Use text data with NLP for richer prediction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Balance dataset using SMOTE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Try XGBoost or Logistic Regression for comparison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Deploy the model as a simple dashboard for pentesters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With cleaner data and NLP features, the model can become significantly more accurate and impactful.</a:t>
            </a:r>
            <a:endParaRPr/>
          </a:p>
        </p:txBody>
      </p:sp>
      <p:sp>
        <p:nvSpPr>
          <p:cNvPr id="232" name="Google Shape;232;p39"/>
          <p:cNvSpPr/>
          <p:nvPr/>
        </p:nvSpPr>
        <p:spPr>
          <a:xfrm>
            <a:off x="293075" y="167475"/>
            <a:ext cx="8687700" cy="46998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38" name="Google Shape;238;p40"/>
          <p:cNvSpPr txBox="1"/>
          <p:nvPr>
            <p:ph idx="1" type="body"/>
          </p:nvPr>
        </p:nvSpPr>
        <p:spPr>
          <a:xfrm>
            <a:off x="532869" y="1450069"/>
            <a:ext cx="8290504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/>
              <a:t>The project shows that even a simple ML model can add value to vulnerability management.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EPSS scores are highly correlated with real-world exploitation, confirming industry observations.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This approach can help security teams focus efforts on the highest-risk CVEs first.</a:t>
            </a:r>
            <a:endParaRPr/>
          </a:p>
        </p:txBody>
      </p:sp>
      <p:sp>
        <p:nvSpPr>
          <p:cNvPr id="239" name="Google Shape;239;p40"/>
          <p:cNvSpPr/>
          <p:nvPr/>
        </p:nvSpPr>
        <p:spPr>
          <a:xfrm>
            <a:off x="282600" y="209350"/>
            <a:ext cx="8698200" cy="43647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245" name="Google Shape;245;p41"/>
          <p:cNvSpPr txBox="1"/>
          <p:nvPr>
            <p:ph idx="1" type="body"/>
          </p:nvPr>
        </p:nvSpPr>
        <p:spPr>
          <a:xfrm>
            <a:off x="311700" y="1530800"/>
            <a:ext cx="8520600" cy="31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Code Correction Assistance:</a:t>
            </a:r>
            <a:r>
              <a:rPr lang="en" sz="1400"/>
              <a:t> Utilized AI tools such as ChatGPT for reviewing and refining code.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Slide Asset Creation:</a:t>
            </a:r>
            <a:r>
              <a:rPr lang="en" sz="1400"/>
              <a:t> Generated supportive images and visual elements for Google Slides using AI (ChatGPT)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Dataset Source:</a:t>
            </a:r>
            <a:r>
              <a:rPr lang="en" sz="1400"/>
              <a:t> The dataset used for this project was obtained from Kaggle.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451" y="3464899"/>
            <a:ext cx="1352525" cy="14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 txBox="1"/>
          <p:nvPr>
            <p:ph idx="4294967295" type="body"/>
          </p:nvPr>
        </p:nvSpPr>
        <p:spPr>
          <a:xfrm>
            <a:off x="1086750" y="2278350"/>
            <a:ext cx="69705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and have a nice evening!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345400" y="314000"/>
            <a:ext cx="8625000" cy="46368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